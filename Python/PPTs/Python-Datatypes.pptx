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370" r:id="rId4"/>
    <p:sldId id="359" r:id="rId5"/>
    <p:sldId id="360" r:id="rId6"/>
    <p:sldId id="361" r:id="rId7"/>
    <p:sldId id="320" r:id="rId8"/>
    <p:sldId id="321" r:id="rId9"/>
    <p:sldId id="322" r:id="rId10"/>
    <p:sldId id="284" r:id="rId11"/>
    <p:sldId id="285" r:id="rId12"/>
    <p:sldId id="286" r:id="rId13"/>
    <p:sldId id="287" r:id="rId14"/>
    <p:sldId id="288" r:id="rId15"/>
    <p:sldId id="289" r:id="rId16"/>
    <p:sldId id="291" r:id="rId17"/>
    <p:sldId id="292" r:id="rId18"/>
    <p:sldId id="367" r:id="rId19"/>
    <p:sldId id="368" r:id="rId20"/>
    <p:sldId id="369" r:id="rId21"/>
    <p:sldId id="296" r:id="rId22"/>
    <p:sldId id="294" r:id="rId23"/>
    <p:sldId id="362" r:id="rId24"/>
    <p:sldId id="363" r:id="rId25"/>
    <p:sldId id="364" r:id="rId26"/>
    <p:sldId id="365" r:id="rId27"/>
    <p:sldId id="36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5"/>
    <p:restoredTop sz="93769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0FCA9-0CFE-42A3-A366-AC257B7FB507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E42C0-23EF-43A4-A898-463C18452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51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EF6F42-0DF6-7F41-A35A-FAD2F3A30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A05118C-DCD0-D744-9617-01D2A9E54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70B4BA3-0746-D94F-BB7F-870DDBE02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517CEF8-1452-9D41-8466-5951F62E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01786E8-A2DB-B848-B3C9-CA97BCB6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6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AA9DD6-1992-9043-B714-E15FE04C3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4EDF830-82BD-4940-B114-F3475445B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DFA5361-471F-A044-BEBB-8CBAA6C2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9941ED1-C88D-EA4F-B978-BEE093B0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9952ADA-09B0-AE4B-879E-F1FD87E5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0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DF0DA8A-9BBE-7A41-8D36-6E3401F2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1CCE368-6C1C-1F4F-9A0B-A5211067B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1BD650C-963B-584D-B3F5-6E4FF673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26231A2-10DA-A141-871E-943A4417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742FE58-E0ED-DF46-B00E-0ABB4AD9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25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B33F230-8CA3-FD41-BC35-F16072A51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6AA3F09-FA53-FF4B-88EA-8333733C3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C1783F1-26D1-5D40-9A12-02E2C1C4A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0FD1E2F-4257-FD4D-B3D9-E47CF61C7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3E070D5-3DBC-E74F-B653-0BC01C074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1BEBBD4-8056-8844-B52B-D89E3704C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72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A69CCB-7DD4-1D41-A06D-D073F3125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38203ED-564C-1841-9E27-C469AF24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05CAE46-1764-FF4C-B795-77329DDD7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C093BB7-AA0B-AE45-BC43-01AA5988F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6F500C5-FF8D-4A4F-960F-F0BD75438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9BD551B-73C4-A24B-BA74-6E6C59FE8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B3AA90F-D25B-804A-8992-DAD4A2CC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B15D27C-2D4C-1D47-BC1A-769018F6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41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B9AD391-3397-354D-B03E-D12F1FC1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92002E7-CCA7-D843-905A-9AEB8305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18C2A30A-0D9D-664D-87CF-2DED1BF36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461BF79-1370-1B43-BD9F-350EC461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0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806B272-B2C5-5C44-A9FF-6C3AFEBA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0027FDC-6F8C-154B-903B-628A43EE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F772E17-64B7-BF46-B1C6-65BB18EB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7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7BBB1C-2678-AA48-9EAF-24F13FE7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97CEB6-1BB9-4A49-ACB0-B294E051A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A9F701C-7C31-464D-92EA-6D3B097AC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2003C05-0FAD-C248-BE05-6ADFB2ACD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2BB1321-CA8B-DA4A-9699-565D0453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ACFAA9E-5516-8F4A-89E3-0BA6CCA9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01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CA898A0-2D96-C042-AE94-1F461E90D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4E58718D-8B02-6E43-A518-6B8E6AC9E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8D7EA38-47E1-F74D-BEDD-93FF5F975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F8EDC4A-53DF-9B41-9417-85A9978E6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C2F50B7-038B-4C40-AE33-C462DAA26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E76079-A2A4-7D43-8D24-D4072D56B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82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B8CDF9-17F4-B740-85D3-83C240BF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2D6216F-7B04-2D44-9728-4FFEAC9C2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965E589-A29C-9240-9B7B-DA5B4AA64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2D36D8C-BDEF-0A42-9921-042BECC44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5049FE-9981-EA40-B956-84F8C87C0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56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627DB6D-2F93-BB4A-A984-14FA758FB0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FB0E791-A971-0648-A185-CAE72D3DD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2D20141-DA3E-4D42-91F1-761296C42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6451-C226-B344-86F8-72EFF8FC2CF7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FD85213-671C-2342-9274-72F87196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017D649-B5F0-954A-B270-A9E372A2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77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F802454-00F4-AD46-96E3-90C0EA9FB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AFC4A82-1295-4445-851D-A797684F2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B9DC530-920B-6043-ACBC-31CFEDE86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96451-C226-B344-86F8-72EFF8FC2CF7}" type="datetimeFigureOut">
              <a:rPr lang="en-US" smtClean="0"/>
              <a:t>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DE86808-1B08-7F46-B091-2263B09725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61DF617-8746-4F49-9226-590B5586C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598C9-F933-014D-BDFC-ECF589F31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3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B1B6D2-3571-40F5-89EF-DD64320CC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UNIT-1</a:t>
            </a:r>
            <a:br>
              <a:rPr lang="en-IN" dirty="0"/>
            </a:br>
            <a:r>
              <a:rPr lang="en-IN" dirty="0"/>
              <a:t>Introduction to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5596A24-EAD8-4026-B612-7CE2AF4A0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mtClean="0"/>
              <a:t>MCA </a:t>
            </a:r>
            <a:r>
              <a:rPr lang="en-IN" dirty="0"/>
              <a:t>– Sem-2</a:t>
            </a:r>
          </a:p>
        </p:txBody>
      </p:sp>
    </p:spTree>
    <p:extLst>
      <p:ext uri="{BB962C8B-B14F-4D97-AF65-F5344CB8AC3E}">
        <p14:creationId xmlns:p14="http://schemas.microsoft.com/office/powerpoint/2010/main" val="4079584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Introduction to None Type, bool type</a:t>
            </a:r>
          </a:p>
          <a:p>
            <a:r>
              <a:rPr lang="en-IN" dirty="0">
                <a:solidFill>
                  <a:srgbClr val="0070C0"/>
                </a:solidFill>
              </a:rPr>
              <a:t>Representing Binary Octal and Hexadecimal Numbers</a:t>
            </a:r>
          </a:p>
          <a:p>
            <a:r>
              <a:rPr lang="en-IN" dirty="0">
                <a:solidFill>
                  <a:srgbClr val="0070C0"/>
                </a:solidFill>
              </a:rPr>
              <a:t>Converting Datatypes Explicitly</a:t>
            </a:r>
          </a:p>
          <a:p>
            <a:r>
              <a:rPr lang="en-IN" dirty="0">
                <a:solidFill>
                  <a:srgbClr val="0070C0"/>
                </a:solidFill>
              </a:rPr>
              <a:t>bool Datatype</a:t>
            </a:r>
          </a:p>
        </p:txBody>
      </p:sp>
    </p:spTree>
    <p:extLst>
      <p:ext uri="{BB962C8B-B14F-4D97-AF65-F5344CB8AC3E}">
        <p14:creationId xmlns:p14="http://schemas.microsoft.com/office/powerpoint/2010/main" val="3960153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FE80A5-5BF7-7E18-2677-23E071A8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None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5EA9BF-8386-98EE-B9BC-D487362B7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Python, the ‘None’ datatype represents an object that </a:t>
            </a:r>
            <a:r>
              <a:rPr lang="en-IN" dirty="0" err="1"/>
              <a:t>doesnot</a:t>
            </a:r>
            <a:r>
              <a:rPr lang="en-IN" dirty="0"/>
              <a:t> contain any value.</a:t>
            </a:r>
          </a:p>
          <a:p>
            <a:r>
              <a:rPr lang="en-IN" dirty="0"/>
              <a:t>It’s like ‘null’ object in java</a:t>
            </a:r>
          </a:p>
          <a:p>
            <a:r>
              <a:rPr lang="en-IN" dirty="0"/>
              <a:t>In a Python program maximum of only one ‘None’ object is provided.</a:t>
            </a:r>
          </a:p>
          <a:p>
            <a:r>
              <a:rPr lang="en-IN" dirty="0"/>
              <a:t>One of the use of it is in the function having default parameter and calling statement is not passing any value then ‘default value is taken as ‘None’</a:t>
            </a:r>
          </a:p>
        </p:txBody>
      </p:sp>
    </p:spTree>
    <p:extLst>
      <p:ext uri="{BB962C8B-B14F-4D97-AF65-F5344CB8AC3E}">
        <p14:creationId xmlns:p14="http://schemas.microsoft.com/office/powerpoint/2010/main" val="1136460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Besides, we can convert the string output of the </a:t>
            </a:r>
            <a:r>
              <a:rPr lang="en-US" i="1" dirty="0"/>
              <a:t>input</a:t>
            </a:r>
            <a:r>
              <a:rPr lang="en-US" dirty="0"/>
              <a:t> function into an integer or a float using the built-in </a:t>
            </a:r>
            <a:r>
              <a:rPr lang="en-US" b="1" i="1" dirty="0" err="1">
                <a:solidFill>
                  <a:srgbClr val="00B050"/>
                </a:solidFill>
              </a:rPr>
              <a:t>int</a:t>
            </a:r>
            <a:r>
              <a:rPr lang="en-US" dirty="0"/>
              <a:t> and </a:t>
            </a:r>
            <a:r>
              <a:rPr lang="en-US" b="1" i="1" dirty="0">
                <a:solidFill>
                  <a:srgbClr val="00B050"/>
                </a:solidFill>
              </a:rPr>
              <a:t>float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functions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Datatype Conversion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2EF3269-38D3-5843-A9D4-1844C85FA642}"/>
              </a:ext>
            </a:extLst>
          </p:cNvPr>
          <p:cNvSpPr txBox="1"/>
          <p:nvPr/>
        </p:nvSpPr>
        <p:spPr>
          <a:xfrm>
            <a:off x="3589550" y="2841402"/>
            <a:ext cx="5730296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</a:t>
            </a:r>
            <a:r>
              <a:rPr lang="en-US" sz="2400" dirty="0" err="1">
                <a:solidFill>
                  <a:srgbClr val="00B050"/>
                </a:solidFill>
              </a:rPr>
              <a:t>int</a:t>
            </a:r>
            <a:r>
              <a:rPr lang="en-US" sz="2400" dirty="0">
                <a:solidFill>
                  <a:srgbClr val="00B050"/>
                </a:solidFill>
              </a:rPr>
              <a:t>(</a:t>
            </a:r>
            <a:r>
              <a:rPr lang="en-US" sz="2400" dirty="0"/>
              <a:t>input("Enter a number: ")</a:t>
            </a:r>
            <a:r>
              <a:rPr lang="en-US" sz="2400" dirty="0">
                <a:solidFill>
                  <a:srgbClr val="00B050"/>
                </a:solidFill>
              </a:rPr>
              <a:t>)</a:t>
            </a:r>
          </a:p>
          <a:p>
            <a:r>
              <a:rPr lang="en-US" sz="2400" dirty="0"/>
              <a:t>Enter a number: 3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92A4697-BD50-DA47-AA33-066594ABD38F}"/>
              </a:ext>
            </a:extLst>
          </p:cNvPr>
          <p:cNvSpPr txBox="1"/>
          <p:nvPr/>
        </p:nvSpPr>
        <p:spPr>
          <a:xfrm>
            <a:off x="611789" y="3748042"/>
            <a:ext cx="256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An integer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(no single quotes)!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597F45DC-84FD-6545-B81D-2896383170A9}"/>
              </a:ext>
            </a:extLst>
          </p:cNvPr>
          <p:cNvSpPr/>
          <p:nvPr/>
        </p:nvSpPr>
        <p:spPr>
          <a:xfrm>
            <a:off x="3589550" y="3963015"/>
            <a:ext cx="437018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187D16AD-9E1E-B04D-B126-F7448F54FADB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176337" y="4163541"/>
            <a:ext cx="413213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10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Besides, we can convert the string output of the </a:t>
            </a:r>
            <a:r>
              <a:rPr lang="en-US" i="1" dirty="0"/>
              <a:t>input</a:t>
            </a:r>
            <a:r>
              <a:rPr lang="en-US" dirty="0"/>
              <a:t> function into an integer or a float using the built-in </a:t>
            </a:r>
            <a:r>
              <a:rPr lang="en-US" b="1" i="1" dirty="0" err="1">
                <a:solidFill>
                  <a:srgbClr val="00B050"/>
                </a:solidFill>
              </a:rPr>
              <a:t>int</a:t>
            </a:r>
            <a:r>
              <a:rPr lang="en-US" dirty="0"/>
              <a:t> and </a:t>
            </a:r>
            <a:r>
              <a:rPr lang="en-US" b="1" i="1" dirty="0">
                <a:solidFill>
                  <a:srgbClr val="00B050"/>
                </a:solidFill>
              </a:rPr>
              <a:t>float</a:t>
            </a:r>
            <a:r>
              <a:rPr lang="en-US" dirty="0"/>
              <a:t> functions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Datatype Conversion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2EF3269-38D3-5843-A9D4-1844C85FA642}"/>
              </a:ext>
            </a:extLst>
          </p:cNvPr>
          <p:cNvSpPr txBox="1"/>
          <p:nvPr/>
        </p:nvSpPr>
        <p:spPr>
          <a:xfrm>
            <a:off x="3589549" y="2841402"/>
            <a:ext cx="6105435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number = </a:t>
            </a:r>
            <a:r>
              <a:rPr lang="en-US" sz="2400" dirty="0">
                <a:solidFill>
                  <a:srgbClr val="00B050"/>
                </a:solidFill>
              </a:rPr>
              <a:t>float(</a:t>
            </a:r>
            <a:r>
              <a:rPr lang="en-US" sz="2400" dirty="0"/>
              <a:t>input("Enter a number: ")</a:t>
            </a:r>
            <a:r>
              <a:rPr lang="en-US" sz="2400" dirty="0">
                <a:solidFill>
                  <a:srgbClr val="00B050"/>
                </a:solidFill>
              </a:rPr>
              <a:t>)</a:t>
            </a:r>
          </a:p>
          <a:p>
            <a:r>
              <a:rPr lang="en-US" sz="2400" dirty="0"/>
              <a:t>Enter a number: 3.7</a:t>
            </a:r>
          </a:p>
          <a:p>
            <a:r>
              <a:rPr lang="en-US" sz="2400" dirty="0"/>
              <a:t>&gt;&gt;&gt; number</a:t>
            </a:r>
          </a:p>
          <a:p>
            <a:r>
              <a:rPr lang="en-US" sz="2400" dirty="0"/>
              <a:t>3.7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892A4697-BD50-DA47-AA33-066594ABD38F}"/>
              </a:ext>
            </a:extLst>
          </p:cNvPr>
          <p:cNvSpPr txBox="1"/>
          <p:nvPr/>
        </p:nvSpPr>
        <p:spPr>
          <a:xfrm>
            <a:off x="611789" y="3748042"/>
            <a:ext cx="2564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A float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400" b="1" dirty="0">
                <a:solidFill>
                  <a:srgbClr val="C00000"/>
                </a:solidFill>
              </a:rPr>
              <a:t>(no single quotes)!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xmlns="" id="{597F45DC-84FD-6545-B81D-2896383170A9}"/>
              </a:ext>
            </a:extLst>
          </p:cNvPr>
          <p:cNvSpPr/>
          <p:nvPr/>
        </p:nvSpPr>
        <p:spPr>
          <a:xfrm>
            <a:off x="3589549" y="3963015"/>
            <a:ext cx="583865" cy="401052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187D16AD-9E1E-B04D-B126-F7448F54FADB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3176339" y="4163541"/>
            <a:ext cx="413210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11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As a matter of fact, we can do various kinds of conversions between strings, integers and floats using the built-in </a:t>
            </a:r>
            <a:r>
              <a:rPr lang="en-US" b="1" i="1" dirty="0" err="1">
                <a:solidFill>
                  <a:srgbClr val="00B050"/>
                </a:solidFill>
              </a:rPr>
              <a:t>int</a:t>
            </a:r>
            <a:r>
              <a:rPr lang="en-US" dirty="0"/>
              <a:t>, </a:t>
            </a:r>
            <a:r>
              <a:rPr lang="en-US" b="1" i="1" dirty="0">
                <a:solidFill>
                  <a:srgbClr val="00B050"/>
                </a:solidFill>
              </a:rPr>
              <a:t>float</a:t>
            </a:r>
            <a:r>
              <a:rPr lang="en-US" dirty="0"/>
              <a:t>, and </a:t>
            </a:r>
            <a:r>
              <a:rPr lang="en-US" b="1" i="1" dirty="0" err="1">
                <a:solidFill>
                  <a:srgbClr val="00B050"/>
                </a:solidFill>
              </a:rPr>
              <a:t>str</a:t>
            </a:r>
            <a:r>
              <a:rPr lang="en-US" dirty="0"/>
              <a:t> functions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Datatype Conversion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2EF3269-38D3-5843-A9D4-1844C85FA642}"/>
              </a:ext>
            </a:extLst>
          </p:cNvPr>
          <p:cNvSpPr txBox="1"/>
          <p:nvPr/>
        </p:nvSpPr>
        <p:spPr>
          <a:xfrm>
            <a:off x="2689313" y="2807292"/>
            <a:ext cx="17665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10</a:t>
            </a:r>
          </a:p>
          <a:p>
            <a:r>
              <a:rPr lang="en-US" sz="2400" dirty="0"/>
              <a:t>&gt;&gt;&gt; float(x)</a:t>
            </a:r>
          </a:p>
          <a:p>
            <a:r>
              <a:rPr lang="en-US" sz="2400" dirty="0"/>
              <a:t>10.0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str</a:t>
            </a:r>
            <a:r>
              <a:rPr lang="en-US" sz="2400" dirty="0"/>
              <a:t>(x)</a:t>
            </a:r>
          </a:p>
          <a:p>
            <a:r>
              <a:rPr lang="en-US" sz="2400" dirty="0"/>
              <a:t>'10'</a:t>
            </a:r>
          </a:p>
          <a:p>
            <a:r>
              <a:rPr lang="en-US" sz="2400" dirty="0"/>
              <a:t>&gt;&gt;&gt;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8D7ABDE-450A-B04E-B995-EFACA4739562}"/>
              </a:ext>
            </a:extLst>
          </p:cNvPr>
          <p:cNvSpPr txBox="1"/>
          <p:nvPr/>
        </p:nvSpPr>
        <p:spPr>
          <a:xfrm>
            <a:off x="5314154" y="2807292"/>
            <a:ext cx="1766584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y = "20"</a:t>
            </a:r>
          </a:p>
          <a:p>
            <a:r>
              <a:rPr lang="en-US" sz="2400" dirty="0"/>
              <a:t>&gt;&gt;&gt; float(y)</a:t>
            </a:r>
          </a:p>
          <a:p>
            <a:r>
              <a:rPr lang="en-US" sz="2400" dirty="0"/>
              <a:t>20.0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int</a:t>
            </a:r>
            <a:r>
              <a:rPr lang="en-US" sz="2400" dirty="0"/>
              <a:t>(y)</a:t>
            </a:r>
          </a:p>
          <a:p>
            <a:r>
              <a:rPr lang="en-US" sz="2400" dirty="0"/>
              <a:t>20</a:t>
            </a:r>
          </a:p>
          <a:p>
            <a:r>
              <a:rPr lang="en-US" sz="2400" dirty="0"/>
              <a:t>&gt;&gt;&gt;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997E153-82BD-4146-8C24-5158DF21AA62}"/>
              </a:ext>
            </a:extLst>
          </p:cNvPr>
          <p:cNvSpPr txBox="1"/>
          <p:nvPr/>
        </p:nvSpPr>
        <p:spPr>
          <a:xfrm>
            <a:off x="7938996" y="2807292"/>
            <a:ext cx="1755990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z = 30.0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int</a:t>
            </a:r>
            <a:r>
              <a:rPr lang="en-US" sz="2400" dirty="0"/>
              <a:t>(z)</a:t>
            </a:r>
          </a:p>
          <a:p>
            <a:r>
              <a:rPr lang="en-US" sz="2400" dirty="0"/>
              <a:t>30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str</a:t>
            </a:r>
            <a:r>
              <a:rPr lang="en-US" sz="2400" dirty="0"/>
              <a:t>(z)</a:t>
            </a:r>
          </a:p>
          <a:p>
            <a:r>
              <a:rPr lang="en-US" sz="2400" dirty="0"/>
              <a:t>'30.0'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FC7C3E6-D1E7-EC4B-9DDF-AC1DDE899B14}"/>
              </a:ext>
            </a:extLst>
          </p:cNvPr>
          <p:cNvSpPr txBox="1"/>
          <p:nvPr/>
        </p:nvSpPr>
        <p:spPr>
          <a:xfrm>
            <a:off x="2452457" y="5287604"/>
            <a:ext cx="2240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integer </a:t>
            </a:r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 float</a:t>
            </a:r>
          </a:p>
          <a:p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integer  string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FE703135-D6CA-2E44-A7AB-DCDEAE8372F8}"/>
              </a:ext>
            </a:extLst>
          </p:cNvPr>
          <p:cNvSpPr txBox="1"/>
          <p:nvPr/>
        </p:nvSpPr>
        <p:spPr>
          <a:xfrm>
            <a:off x="5106967" y="5287603"/>
            <a:ext cx="2240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string </a:t>
            </a:r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 float</a:t>
            </a:r>
          </a:p>
          <a:p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string  integer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C58AC1EF-7827-2344-A413-30F5E518A2CD}"/>
              </a:ext>
            </a:extLst>
          </p:cNvPr>
          <p:cNvSpPr txBox="1"/>
          <p:nvPr/>
        </p:nvSpPr>
        <p:spPr>
          <a:xfrm>
            <a:off x="7761477" y="5287604"/>
            <a:ext cx="21110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float </a:t>
            </a:r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 integer</a:t>
            </a:r>
          </a:p>
          <a:p>
            <a:r>
              <a:rPr lang="en-US" sz="2400" dirty="0">
                <a:solidFill>
                  <a:srgbClr val="00B050"/>
                </a:solidFill>
                <a:sym typeface="Wingdings" pitchFamily="2" charset="2"/>
              </a:rPr>
              <a:t>float  string</a:t>
            </a:r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91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4" grpId="0"/>
      <p:bldP spid="11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Python allows us also to assign multiple values to multiple variables all at the same time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form of assignment might seem strange at first, but it can prove remarkably useful (e.g., for swapping values)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Simultaneous Assignment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45E340-AD15-CC4C-B7BE-0B35A4EA8697}"/>
              </a:ext>
            </a:extLst>
          </p:cNvPr>
          <p:cNvSpPr txBox="1"/>
          <p:nvPr/>
        </p:nvSpPr>
        <p:spPr>
          <a:xfrm>
            <a:off x="3719203" y="2621904"/>
            <a:ext cx="6388639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x, y = 2, 3</a:t>
            </a:r>
          </a:p>
          <a:p>
            <a:r>
              <a:rPr lang="en-US" sz="2400" dirty="0"/>
              <a:t>&gt;&gt;&gt; x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 y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 </a:t>
            </a:r>
          </a:p>
          <a:p>
            <a:r>
              <a:rPr lang="en-US" sz="2400" dirty="0"/>
              <a:t>&gt;&gt;&gt;a = b = 5</a:t>
            </a:r>
          </a:p>
        </p:txBody>
      </p:sp>
    </p:spTree>
    <p:extLst>
      <p:ext uri="{BB962C8B-B14F-4D97-AF65-F5344CB8AC3E}">
        <p14:creationId xmlns:p14="http://schemas.microsoft.com/office/powerpoint/2010/main" val="9902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Suppose you have two variables x and y, and you want to swap their values (</a:t>
            </a:r>
            <a:r>
              <a:rPr lang="en-US" i="1" dirty="0"/>
              <a:t>i.e., you want the value stored in x to be in y and vice versa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Simultaneous Assignment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45E340-AD15-CC4C-B7BE-0B35A4EA8697}"/>
              </a:ext>
            </a:extLst>
          </p:cNvPr>
          <p:cNvSpPr txBox="1"/>
          <p:nvPr/>
        </p:nvSpPr>
        <p:spPr>
          <a:xfrm>
            <a:off x="3338410" y="2943009"/>
            <a:ext cx="2757590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y = 3</a:t>
            </a:r>
          </a:p>
          <a:p>
            <a:r>
              <a:rPr lang="en-US" sz="2400" dirty="0"/>
              <a:t>&gt;&gt;&gt; x = y</a:t>
            </a:r>
          </a:p>
          <a:p>
            <a:r>
              <a:rPr lang="en-US" sz="2400" dirty="0"/>
              <a:t>&gt;&gt;&gt; y = x</a:t>
            </a:r>
          </a:p>
          <a:p>
            <a:r>
              <a:rPr lang="en-US" sz="2400" dirty="0"/>
              <a:t>&gt;&gt;&gt; x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 y</a:t>
            </a:r>
          </a:p>
          <a:p>
            <a:r>
              <a:rPr lang="en-US" sz="2400" dirty="0"/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37790E4-14A9-054D-9FD0-2EE81C3BE754}"/>
              </a:ext>
            </a:extLst>
          </p:cNvPr>
          <p:cNvSpPr txBox="1"/>
          <p:nvPr/>
        </p:nvSpPr>
        <p:spPr>
          <a:xfrm>
            <a:off x="6372060" y="3955924"/>
            <a:ext cx="5838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C00000"/>
                </a:solidFill>
              </a:rPr>
              <a:t>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AEA805D-DEDC-8C4F-A98E-8217F28100AE}"/>
              </a:ext>
            </a:extLst>
          </p:cNvPr>
          <p:cNvSpPr txBox="1"/>
          <p:nvPr/>
        </p:nvSpPr>
        <p:spPr>
          <a:xfrm>
            <a:off x="6955874" y="4048256"/>
            <a:ext cx="32505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CANNOT be done with </a:t>
            </a:r>
          </a:p>
          <a:p>
            <a:r>
              <a:rPr lang="en-US" sz="2400" b="1" i="1" dirty="0">
                <a:solidFill>
                  <a:srgbClr val="C00000"/>
                </a:solidFill>
              </a:rPr>
              <a:t>two</a:t>
            </a:r>
            <a:r>
              <a:rPr lang="en-US" sz="2400" b="1" dirty="0">
                <a:solidFill>
                  <a:srgbClr val="C00000"/>
                </a:solidFill>
              </a:rPr>
              <a:t> simple assignments</a:t>
            </a:r>
          </a:p>
        </p:txBody>
      </p:sp>
    </p:spTree>
    <p:extLst>
      <p:ext uri="{BB962C8B-B14F-4D97-AF65-F5344CB8AC3E}">
        <p14:creationId xmlns:p14="http://schemas.microsoft.com/office/powerpoint/2010/main" val="572437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11933" cy="4703513"/>
          </a:xfrm>
        </p:spPr>
        <p:txBody>
          <a:bodyPr>
            <a:normAutofit/>
          </a:bodyPr>
          <a:lstStyle/>
          <a:p>
            <a:r>
              <a:rPr lang="en-US" dirty="0"/>
              <a:t>Suppose you have two variables x and y, and you want to swap their values (</a:t>
            </a:r>
            <a:r>
              <a:rPr lang="en-US" i="1" dirty="0"/>
              <a:t>i.e., you want the value stored in x to be in y and vice versa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Simultaneous Assignment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045E340-AD15-CC4C-B7BE-0B35A4EA8697}"/>
              </a:ext>
            </a:extLst>
          </p:cNvPr>
          <p:cNvSpPr txBox="1"/>
          <p:nvPr/>
        </p:nvSpPr>
        <p:spPr>
          <a:xfrm>
            <a:off x="4247522" y="2743485"/>
            <a:ext cx="2631466" cy="378565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</a:t>
            </a:r>
          </a:p>
          <a:p>
            <a:r>
              <a:rPr lang="en-US" sz="2400" dirty="0"/>
              <a:t>&gt;&gt;&gt; y = 3</a:t>
            </a:r>
          </a:p>
          <a:p>
            <a:r>
              <a:rPr lang="en-US" sz="2400" dirty="0"/>
              <a:t>&gt;&gt;&gt; </a:t>
            </a:r>
            <a:r>
              <a:rPr lang="en-US" sz="2400" dirty="0">
                <a:solidFill>
                  <a:srgbClr val="C00000"/>
                </a:solidFill>
              </a:rPr>
              <a:t>temp</a:t>
            </a:r>
            <a:r>
              <a:rPr lang="en-US" sz="2400" dirty="0"/>
              <a:t> = x</a:t>
            </a:r>
          </a:p>
          <a:p>
            <a:r>
              <a:rPr lang="en-US" sz="2400" dirty="0"/>
              <a:t>&gt;&gt;&gt; x = y</a:t>
            </a:r>
          </a:p>
          <a:p>
            <a:r>
              <a:rPr lang="en-US" sz="2400" dirty="0"/>
              <a:t>&gt;&gt;&gt; y = </a:t>
            </a:r>
            <a:r>
              <a:rPr lang="en-US" sz="2400" dirty="0">
                <a:solidFill>
                  <a:srgbClr val="C00000"/>
                </a:solidFill>
              </a:rPr>
              <a:t>temp</a:t>
            </a:r>
          </a:p>
          <a:p>
            <a:r>
              <a:rPr lang="en-US" sz="2400" dirty="0"/>
              <a:t>&gt;&gt;&gt; x</a:t>
            </a:r>
          </a:p>
          <a:p>
            <a:r>
              <a:rPr lang="en-US" sz="2400" dirty="0"/>
              <a:t>3</a:t>
            </a:r>
          </a:p>
          <a:p>
            <a:r>
              <a:rPr lang="en-US" sz="2400" dirty="0"/>
              <a:t>&gt;&gt;&gt; y</a:t>
            </a:r>
          </a:p>
          <a:p>
            <a:r>
              <a:rPr lang="en-US" sz="2400" dirty="0"/>
              <a:t>2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37790E4-14A9-054D-9FD0-2EE81C3BE754}"/>
              </a:ext>
            </a:extLst>
          </p:cNvPr>
          <p:cNvSpPr txBox="1"/>
          <p:nvPr/>
        </p:nvSpPr>
        <p:spPr>
          <a:xfrm>
            <a:off x="6971329" y="3955922"/>
            <a:ext cx="12250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AEA805D-DEDC-8C4F-A98E-8217F28100AE}"/>
              </a:ext>
            </a:extLst>
          </p:cNvPr>
          <p:cNvSpPr txBox="1"/>
          <p:nvPr/>
        </p:nvSpPr>
        <p:spPr>
          <a:xfrm>
            <a:off x="7791484" y="3433758"/>
            <a:ext cx="35205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CAN be done with </a:t>
            </a:r>
          </a:p>
          <a:p>
            <a:r>
              <a:rPr lang="en-US" sz="2400" b="1" i="1" dirty="0">
                <a:solidFill>
                  <a:srgbClr val="C00000"/>
                </a:solidFill>
              </a:rPr>
              <a:t>three</a:t>
            </a:r>
            <a:r>
              <a:rPr lang="en-US" sz="2400" b="1" dirty="0">
                <a:solidFill>
                  <a:srgbClr val="C00000"/>
                </a:solidFill>
              </a:rPr>
              <a:t> simple assignments,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but more efficiently with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simultaneous assignment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5181E943-7287-924D-94E0-84D4FEF0696B}"/>
              </a:ext>
            </a:extLst>
          </p:cNvPr>
          <p:cNvSpPr/>
          <p:nvPr/>
        </p:nvSpPr>
        <p:spPr>
          <a:xfrm>
            <a:off x="4775365" y="2808144"/>
            <a:ext cx="288835" cy="323939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BFA24674-474D-7544-8905-5AC574E2A502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3759061" y="2970114"/>
            <a:ext cx="1016304" cy="724272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xmlns="" id="{5181E943-7287-924D-94E0-84D4FEF0696B}"/>
              </a:ext>
            </a:extLst>
          </p:cNvPr>
          <p:cNvSpPr/>
          <p:nvPr/>
        </p:nvSpPr>
        <p:spPr>
          <a:xfrm>
            <a:off x="4798360" y="3196742"/>
            <a:ext cx="288835" cy="323939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5181E943-7287-924D-94E0-84D4FEF0696B}"/>
              </a:ext>
            </a:extLst>
          </p:cNvPr>
          <p:cNvSpPr/>
          <p:nvPr/>
        </p:nvSpPr>
        <p:spPr>
          <a:xfrm>
            <a:off x="4805781" y="3548953"/>
            <a:ext cx="738211" cy="323939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BFA24674-474D-7544-8905-5AC574E2A502}"/>
              </a:ext>
            </a:extLst>
          </p:cNvPr>
          <p:cNvCxnSpPr>
            <a:cxnSpLocks/>
            <a:stCxn id="23" idx="2"/>
          </p:cNvCxnSpPr>
          <p:nvPr/>
        </p:nvCxnSpPr>
        <p:spPr>
          <a:xfrm flipH="1">
            <a:off x="3759061" y="3358712"/>
            <a:ext cx="1039299" cy="335674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xmlns="" id="{BFA24674-474D-7544-8905-5AC574E2A502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3759061" y="3710923"/>
            <a:ext cx="1046720" cy="0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09043" y="2970114"/>
            <a:ext cx="377372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Thus far, we have been using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different </a:t>
            </a:r>
            <a:r>
              <a:rPr lang="en-US" sz="2400" i="1" dirty="0">
                <a:solidFill>
                  <a:srgbClr val="00B050"/>
                </a:solidFill>
              </a:rPr>
              <a:t>names </a:t>
            </a:r>
            <a:r>
              <a:rPr lang="en-US" sz="2400" dirty="0">
                <a:solidFill>
                  <a:srgbClr val="00B050"/>
                </a:solidFill>
              </a:rPr>
              <a:t>for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variables. These names</a:t>
            </a:r>
          </a:p>
          <a:p>
            <a:r>
              <a:rPr lang="en-US" sz="2400" dirty="0">
                <a:solidFill>
                  <a:srgbClr val="00B050"/>
                </a:solidFill>
              </a:rPr>
              <a:t>are technically called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b="1" i="1" dirty="0">
                <a:solidFill>
                  <a:srgbClr val="00B050"/>
                </a:solidFill>
              </a:rPr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val="86105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23" grpId="0" animBg="1"/>
      <p:bldP spid="24" grpId="0" animBg="1"/>
      <p:bldP spid="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dirty="0"/>
              <a:t>Every identifier must begin with a letter or underscore, which may be followed by any sequence of letters, digits, or underscores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C8E0899-A8B4-E040-8A67-EE0AA045D847}"/>
              </a:ext>
            </a:extLst>
          </p:cNvPr>
          <p:cNvSpPr txBox="1"/>
          <p:nvPr/>
        </p:nvSpPr>
        <p:spPr>
          <a:xfrm>
            <a:off x="3438884" y="3103013"/>
            <a:ext cx="4265783" cy="341632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x1 = 10</a:t>
            </a:r>
          </a:p>
          <a:p>
            <a:r>
              <a:rPr lang="en-US" sz="2400" dirty="0"/>
              <a:t>&gt;&gt;&gt; x2 = 20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y_effect</a:t>
            </a:r>
            <a:r>
              <a:rPr lang="en-US" sz="2400" dirty="0"/>
              <a:t> = 1.5</a:t>
            </a:r>
          </a:p>
          <a:p>
            <a:r>
              <a:rPr lang="en-US" sz="2400" dirty="0"/>
              <a:t>&gt;&gt;&gt; </a:t>
            </a:r>
            <a:r>
              <a:rPr lang="en-US" sz="2400" dirty="0" err="1"/>
              <a:t>celsius</a:t>
            </a:r>
            <a:r>
              <a:rPr lang="en-US" sz="2400" dirty="0"/>
              <a:t> = 32</a:t>
            </a:r>
          </a:p>
          <a:p>
            <a:r>
              <a:rPr lang="en-US" sz="2400" dirty="0"/>
              <a:t>&gt;&gt;&gt; 2celsius</a:t>
            </a:r>
          </a:p>
          <a:p>
            <a:r>
              <a:rPr lang="en-US" sz="2400" dirty="0"/>
              <a:t>  File "&lt;stdin&gt;", line 1</a:t>
            </a:r>
          </a:p>
          <a:p>
            <a:r>
              <a:rPr lang="en-US" sz="2400" dirty="0"/>
              <a:t>    2celsius</a:t>
            </a:r>
          </a:p>
          <a:p>
            <a:r>
              <a:rPr lang="en-US" sz="2400" dirty="0"/>
              <a:t>           ^</a:t>
            </a:r>
          </a:p>
          <a:p>
            <a:r>
              <a:rPr lang="en-US" sz="2400" dirty="0" err="1"/>
              <a:t>SyntaxError</a:t>
            </a:r>
            <a:r>
              <a:rPr lang="en-US" sz="2400" dirty="0"/>
              <a:t>: invalid syntax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val="178974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sz="2800" dirty="0"/>
              <a:t>Identifiers are </a:t>
            </a:r>
            <a:r>
              <a:rPr lang="en-US" sz="2800" i="1" dirty="0">
                <a:solidFill>
                  <a:srgbClr val="C00000"/>
                </a:solidFill>
              </a:rPr>
              <a:t>case-sensitive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C8E0899-A8B4-E040-8A67-EE0AA045D847}"/>
              </a:ext>
            </a:extLst>
          </p:cNvPr>
          <p:cNvSpPr txBox="1"/>
          <p:nvPr/>
        </p:nvSpPr>
        <p:spPr>
          <a:xfrm>
            <a:off x="3438884" y="3103013"/>
            <a:ext cx="4265783" cy="230832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10</a:t>
            </a:r>
          </a:p>
          <a:p>
            <a:r>
              <a:rPr lang="en-US" sz="2400" dirty="0"/>
              <a:t>&gt;&gt;&gt; X = 5.7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10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5.7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val="160425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dirty="0"/>
              <a:t>Some identifiers are part of Python itself (they are called </a:t>
            </a:r>
            <a:r>
              <a:rPr lang="en-US" i="1" dirty="0">
                <a:solidFill>
                  <a:srgbClr val="C00000"/>
                </a:solidFill>
              </a:rPr>
              <a:t>reserved words </a:t>
            </a:r>
            <a:r>
              <a:rPr lang="en-US" dirty="0"/>
              <a:t>or </a:t>
            </a:r>
            <a:r>
              <a:rPr lang="en-US" i="1" dirty="0">
                <a:solidFill>
                  <a:srgbClr val="C00000"/>
                </a:solidFill>
              </a:rPr>
              <a:t>keywords</a:t>
            </a:r>
            <a:r>
              <a:rPr lang="en-US" dirty="0"/>
              <a:t>) and cannot be used by programmers as ordinary identifiers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E521DBA5-A3F3-E744-A100-DD027DA55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906130"/>
              </p:ext>
            </p:extLst>
          </p:nvPr>
        </p:nvGraphicFramePr>
        <p:xfrm>
          <a:off x="2065866" y="3141134"/>
          <a:ext cx="8128000" cy="3200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xmlns="" val="41784981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283642111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239269809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243772490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xmlns="" val="1782446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False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class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finally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return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220878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continue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lambda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1532074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True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from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nonlocal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while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461014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global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not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with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709166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elif</a:t>
                      </a:r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if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yield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2543506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assert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else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import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pass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3963368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break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except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raise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xmlns="" val="40903549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EDA9D6F-88DD-354C-A275-8B4710BCF6C4}"/>
              </a:ext>
            </a:extLst>
          </p:cNvPr>
          <p:cNvSpPr txBox="1"/>
          <p:nvPr/>
        </p:nvSpPr>
        <p:spPr>
          <a:xfrm>
            <a:off x="4952556" y="6318133"/>
            <a:ext cx="2354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Python Keywords</a:t>
            </a:r>
          </a:p>
        </p:txBody>
      </p:sp>
    </p:spTree>
    <p:extLst>
      <p:ext uri="{BB962C8B-B14F-4D97-AF65-F5344CB8AC3E}">
        <p14:creationId xmlns:p14="http://schemas.microsoft.com/office/powerpoint/2010/main" val="1243294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Python has some rules about how identifiers can be formed</a:t>
            </a:r>
          </a:p>
          <a:p>
            <a:pPr lvl="1"/>
            <a:r>
              <a:rPr lang="en-US" dirty="0"/>
              <a:t>Some identifiers are part of Python itself (they are called </a:t>
            </a:r>
            <a:r>
              <a:rPr lang="en-US" i="1" dirty="0">
                <a:solidFill>
                  <a:srgbClr val="C00000"/>
                </a:solidFill>
              </a:rPr>
              <a:t>reserved words </a:t>
            </a:r>
            <a:r>
              <a:rPr lang="en-US" dirty="0"/>
              <a:t>or </a:t>
            </a:r>
            <a:r>
              <a:rPr lang="en-US" i="1" dirty="0">
                <a:solidFill>
                  <a:srgbClr val="C00000"/>
                </a:solidFill>
              </a:rPr>
              <a:t>keywords</a:t>
            </a:r>
            <a:r>
              <a:rPr lang="en-US" dirty="0"/>
              <a:t>) and cannot be used by programmers as ordinary identifiers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Identifiers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293BC0-D39E-6646-8F67-D91227DC65B3}"/>
              </a:ext>
            </a:extLst>
          </p:cNvPr>
          <p:cNvSpPr txBox="1"/>
          <p:nvPr/>
        </p:nvSpPr>
        <p:spPr>
          <a:xfrm>
            <a:off x="3811417" y="3529548"/>
            <a:ext cx="4265783" cy="193899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for = 4</a:t>
            </a:r>
          </a:p>
          <a:p>
            <a:r>
              <a:rPr lang="en-US" sz="2400" dirty="0"/>
              <a:t>  File "&lt;stdin&gt;", line 1</a:t>
            </a:r>
          </a:p>
          <a:p>
            <a:r>
              <a:rPr lang="en-US" sz="2400" dirty="0"/>
              <a:t>    for = 4</a:t>
            </a:r>
          </a:p>
          <a:p>
            <a:r>
              <a:rPr lang="en-US" sz="2400" dirty="0"/>
              <a:t>        ^</a:t>
            </a:r>
          </a:p>
          <a:p>
            <a:r>
              <a:rPr lang="en-US" sz="2400" dirty="0" err="1"/>
              <a:t>SyntaxError</a:t>
            </a:r>
            <a:r>
              <a:rPr lang="en-US" sz="2400" dirty="0"/>
              <a:t>: invalid syntax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EF1915-E4F3-8147-9AA6-BBF33FE3F92D}"/>
              </a:ext>
            </a:extLst>
          </p:cNvPr>
          <p:cNvSpPr txBox="1"/>
          <p:nvPr/>
        </p:nvSpPr>
        <p:spPr>
          <a:xfrm>
            <a:off x="1686733" y="4172479"/>
            <a:ext cx="21246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B050"/>
                </a:solidFill>
              </a:rPr>
              <a:t>An example…</a:t>
            </a:r>
          </a:p>
        </p:txBody>
      </p:sp>
    </p:spTree>
    <p:extLst>
      <p:ext uri="{BB962C8B-B14F-4D97-AF65-F5344CB8AC3E}">
        <p14:creationId xmlns:p14="http://schemas.microsoft.com/office/powerpoint/2010/main" val="900325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293BC0-D39E-6646-8F67-D91227DC65B3}"/>
              </a:ext>
            </a:extLst>
          </p:cNvPr>
          <p:cNvSpPr txBox="1"/>
          <p:nvPr/>
        </p:nvSpPr>
        <p:spPr>
          <a:xfrm>
            <a:off x="7088017" y="2715117"/>
            <a:ext cx="4265783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print(5 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 7)</a:t>
            </a:r>
          </a:p>
          <a:p>
            <a:r>
              <a:rPr lang="en-US" sz="2400" dirty="0"/>
              <a:t>35</a:t>
            </a:r>
          </a:p>
          <a:p>
            <a:r>
              <a:rPr lang="en-US" sz="2400" dirty="0"/>
              <a:t>&gt;&gt;&gt; print("5"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"7")</a:t>
            </a:r>
          </a:p>
          <a:p>
            <a:r>
              <a:rPr lang="en-US" sz="2400" dirty="0"/>
              <a:t>57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8DB0859A-D2AF-3145-97B1-A60E06DC7EE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801254" y="2931218"/>
            <a:ext cx="2241966" cy="444137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65603DB3-6C66-7A4C-ADF9-6C5A324043A8}"/>
              </a:ext>
            </a:extLst>
          </p:cNvPr>
          <p:cNvSpPr/>
          <p:nvPr/>
        </p:nvSpPr>
        <p:spPr>
          <a:xfrm>
            <a:off x="8043220" y="2697400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3901CAD-E355-B04C-A3BE-F89C4F060CDE}"/>
              </a:ext>
            </a:extLst>
          </p:cNvPr>
          <p:cNvSpPr txBox="1"/>
          <p:nvPr/>
        </p:nvSpPr>
        <p:spPr>
          <a:xfrm>
            <a:off x="961852" y="2972150"/>
            <a:ext cx="4839402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48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293BC0-D39E-6646-8F67-D91227DC65B3}"/>
              </a:ext>
            </a:extLst>
          </p:cNvPr>
          <p:cNvSpPr txBox="1"/>
          <p:nvPr/>
        </p:nvSpPr>
        <p:spPr>
          <a:xfrm>
            <a:off x="7088017" y="2715117"/>
            <a:ext cx="4265783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print(5 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 7)</a:t>
            </a:r>
          </a:p>
          <a:p>
            <a:r>
              <a:rPr lang="en-US" sz="2400" dirty="0"/>
              <a:t>35</a:t>
            </a:r>
          </a:p>
          <a:p>
            <a:r>
              <a:rPr lang="en-US" sz="2400" dirty="0"/>
              <a:t>&gt;&gt;&gt; print("5"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"7")</a:t>
            </a:r>
          </a:p>
          <a:p>
            <a:r>
              <a:rPr lang="en-US" sz="2400" dirty="0"/>
              <a:t>57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8DB0859A-D2AF-3145-97B1-A60E06DC7EE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801254" y="2931218"/>
            <a:ext cx="2241966" cy="444137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65603DB3-6C66-7A4C-ADF9-6C5A324043A8}"/>
              </a:ext>
            </a:extLst>
          </p:cNvPr>
          <p:cNvSpPr/>
          <p:nvPr/>
        </p:nvSpPr>
        <p:spPr>
          <a:xfrm>
            <a:off x="8043220" y="2697400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3901CAD-E355-B04C-A3BE-F89C4F060CDE}"/>
              </a:ext>
            </a:extLst>
          </p:cNvPr>
          <p:cNvSpPr txBox="1"/>
          <p:nvPr/>
        </p:nvSpPr>
        <p:spPr>
          <a:xfrm>
            <a:off x="961852" y="2972150"/>
            <a:ext cx="54875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i="1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another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multiplication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17579E51-9A7C-B94A-A6CF-8A6AF126CEE3}"/>
              </a:ext>
            </a:extLst>
          </p:cNvPr>
          <p:cNvSpPr/>
          <p:nvPr/>
        </p:nvSpPr>
        <p:spPr>
          <a:xfrm>
            <a:off x="8307216" y="3803194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8B6E3C8B-A0E9-8C47-8F00-F027C4E1C1A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449380" y="4037012"/>
            <a:ext cx="1857836" cy="365655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5866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293BC0-D39E-6646-8F67-D91227DC65B3}"/>
              </a:ext>
            </a:extLst>
          </p:cNvPr>
          <p:cNvSpPr txBox="1"/>
          <p:nvPr/>
        </p:nvSpPr>
        <p:spPr>
          <a:xfrm>
            <a:off x="7088017" y="2715117"/>
            <a:ext cx="4265783" cy="26776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2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3</a:t>
            </a:r>
          </a:p>
          <a:p>
            <a:r>
              <a:rPr lang="en-US" sz="2400" dirty="0"/>
              <a:t>&gt;&gt;&gt; print(x)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print(5 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 7)</a:t>
            </a:r>
          </a:p>
          <a:p>
            <a:r>
              <a:rPr lang="en-US" sz="2400" dirty="0"/>
              <a:t>35</a:t>
            </a:r>
          </a:p>
          <a:p>
            <a:r>
              <a:rPr lang="en-US" sz="2400" dirty="0"/>
              <a:t>&gt;&gt;&gt; print("5" </a:t>
            </a:r>
            <a:r>
              <a:rPr lang="en-US" sz="2400" b="1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"7")</a:t>
            </a:r>
          </a:p>
          <a:p>
            <a:r>
              <a:rPr lang="en-US" sz="2400" dirty="0"/>
              <a:t>57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xmlns="" id="{8DB0859A-D2AF-3145-97B1-A60E06DC7EE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801254" y="2931218"/>
            <a:ext cx="2241966" cy="444137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65603DB3-6C66-7A4C-ADF9-6C5A324043A8}"/>
              </a:ext>
            </a:extLst>
          </p:cNvPr>
          <p:cNvSpPr/>
          <p:nvPr/>
        </p:nvSpPr>
        <p:spPr>
          <a:xfrm>
            <a:off x="8043220" y="2697400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3901CAD-E355-B04C-A3BE-F89C4F060CDE}"/>
              </a:ext>
            </a:extLst>
          </p:cNvPr>
          <p:cNvSpPr txBox="1"/>
          <p:nvPr/>
        </p:nvSpPr>
        <p:spPr>
          <a:xfrm>
            <a:off x="961852" y="2972150"/>
            <a:ext cx="6349495" cy="378565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i="1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another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multiplication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i="1" dirty="0">
                <a:solidFill>
                  <a:srgbClr val="00B050"/>
                </a:solidFill>
              </a:rPr>
              <a:t>operator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This is yet another expression that uses the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i="1" dirty="0">
                <a:solidFill>
                  <a:srgbClr val="00B050"/>
                </a:solidFill>
              </a:rPr>
              <a:t>addition operator </a:t>
            </a:r>
            <a:r>
              <a:rPr lang="en-US" sz="2400" dirty="0">
                <a:solidFill>
                  <a:srgbClr val="00B050"/>
                </a:solidFill>
              </a:rPr>
              <a:t>but</a:t>
            </a:r>
            <a:r>
              <a:rPr lang="en-US" sz="2400" i="1" dirty="0">
                <a:solidFill>
                  <a:srgbClr val="00B050"/>
                </a:solidFill>
              </a:rPr>
              <a:t> </a:t>
            </a:r>
            <a:r>
              <a:rPr lang="en-US" sz="2400" dirty="0">
                <a:solidFill>
                  <a:srgbClr val="00B050"/>
                </a:solidFill>
              </a:rPr>
              <a:t>to </a:t>
            </a:r>
            <a:r>
              <a:rPr lang="en-US" sz="2400" i="1" dirty="0">
                <a:solidFill>
                  <a:srgbClr val="00B050"/>
                </a:solidFill>
              </a:rPr>
              <a:t>concatenate</a:t>
            </a:r>
            <a:r>
              <a:rPr lang="en-US" sz="2400" dirty="0">
                <a:solidFill>
                  <a:srgbClr val="00B050"/>
                </a:solidFill>
              </a:rPr>
              <a:t> (or glue)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strings together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17579E51-9A7C-B94A-A6CF-8A6AF126CEE3}"/>
              </a:ext>
            </a:extLst>
          </p:cNvPr>
          <p:cNvSpPr/>
          <p:nvPr/>
        </p:nvSpPr>
        <p:spPr>
          <a:xfrm>
            <a:off x="8307216" y="3803194"/>
            <a:ext cx="728247" cy="467636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8B6E3C8B-A0E9-8C47-8F00-F027C4E1C1AC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449380" y="4037012"/>
            <a:ext cx="1857836" cy="365655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748FF88D-9206-BC46-8792-0744095D88B2}"/>
              </a:ext>
            </a:extLst>
          </p:cNvPr>
          <p:cNvSpPr/>
          <p:nvPr/>
        </p:nvSpPr>
        <p:spPr>
          <a:xfrm>
            <a:off x="8366539" y="4444452"/>
            <a:ext cx="1149994" cy="71587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FD58C270-1FDB-4D44-BA3B-FE672F0A688F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6449380" y="4802387"/>
            <a:ext cx="1917159" cy="357935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171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r>
              <a:rPr lang="en-US" dirty="0"/>
              <a:t>You can produce new data (numeric or text) values in your program using </a:t>
            </a:r>
            <a:r>
              <a:rPr lang="en-US" i="1" dirty="0"/>
              <a:t>expressions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293BC0-D39E-6646-8F67-D91227DC65B3}"/>
              </a:ext>
            </a:extLst>
          </p:cNvPr>
          <p:cNvSpPr txBox="1"/>
          <p:nvPr/>
        </p:nvSpPr>
        <p:spPr>
          <a:xfrm>
            <a:off x="2629014" y="2933651"/>
            <a:ext cx="2631716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x = 6</a:t>
            </a:r>
          </a:p>
          <a:p>
            <a:r>
              <a:rPr lang="en-US" sz="2400" dirty="0"/>
              <a:t>&gt;&gt;&gt; y = 2</a:t>
            </a:r>
          </a:p>
          <a:p>
            <a:r>
              <a:rPr lang="en-US" sz="2400" dirty="0"/>
              <a:t>&gt;&gt;&gt; print(x </a:t>
            </a:r>
            <a:r>
              <a:rPr lang="en-US" sz="2400" b="1" dirty="0">
                <a:solidFill>
                  <a:srgbClr val="FF0000"/>
                </a:solidFill>
              </a:rPr>
              <a:t>-</a:t>
            </a:r>
            <a:r>
              <a:rPr lang="en-US" sz="2400" dirty="0"/>
              <a:t> y)</a:t>
            </a:r>
          </a:p>
          <a:p>
            <a:r>
              <a:rPr lang="en-US" sz="2400" dirty="0"/>
              <a:t>4</a:t>
            </a:r>
          </a:p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/</a:t>
            </a:r>
            <a:r>
              <a:rPr lang="en-US" sz="2400" dirty="0"/>
              <a:t>y)</a:t>
            </a:r>
          </a:p>
          <a:p>
            <a:r>
              <a:rPr lang="en-US" sz="2400" dirty="0"/>
              <a:t>3.0</a:t>
            </a:r>
          </a:p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//</a:t>
            </a:r>
            <a:r>
              <a:rPr lang="en-US" sz="2400" dirty="0"/>
              <a:t>y)</a:t>
            </a:r>
          </a:p>
          <a:p>
            <a:r>
              <a:rPr lang="en-US" sz="2400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02BC3C4-4A97-9D40-8DAB-E4131F43C75F}"/>
              </a:ext>
            </a:extLst>
          </p:cNvPr>
          <p:cNvSpPr txBox="1"/>
          <p:nvPr/>
        </p:nvSpPr>
        <p:spPr>
          <a:xfrm>
            <a:off x="7895609" y="2933651"/>
            <a:ext cx="2725501" cy="304698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*</a:t>
            </a:r>
            <a:r>
              <a:rPr lang="en-US" sz="2400" dirty="0"/>
              <a:t>y)</a:t>
            </a:r>
          </a:p>
          <a:p>
            <a:r>
              <a:rPr lang="en-US" sz="2400" dirty="0"/>
              <a:t>12</a:t>
            </a:r>
          </a:p>
          <a:p>
            <a:r>
              <a:rPr lang="en-US" sz="2400" dirty="0"/>
              <a:t>&gt;&gt;&gt; print(x</a:t>
            </a:r>
            <a:r>
              <a:rPr lang="en-US" sz="2400" b="1" dirty="0">
                <a:solidFill>
                  <a:srgbClr val="FF0000"/>
                </a:solidFill>
              </a:rPr>
              <a:t>**</a:t>
            </a:r>
            <a:r>
              <a:rPr lang="en-US" sz="2400" dirty="0"/>
              <a:t>y)</a:t>
            </a:r>
          </a:p>
          <a:p>
            <a:r>
              <a:rPr lang="en-US" sz="2400" dirty="0"/>
              <a:t>36</a:t>
            </a:r>
          </a:p>
          <a:p>
            <a:r>
              <a:rPr lang="en-US" sz="2400" dirty="0"/>
              <a:t>&gt;&gt;&gt; print(</a:t>
            </a:r>
            <a:r>
              <a:rPr lang="en-US" sz="2400" dirty="0" err="1"/>
              <a:t>x</a:t>
            </a:r>
            <a:r>
              <a:rPr lang="en-US" sz="2400" b="1" dirty="0" err="1">
                <a:solidFill>
                  <a:srgbClr val="FF0000"/>
                </a:solidFill>
              </a:rPr>
              <a:t>%</a:t>
            </a:r>
            <a:r>
              <a:rPr lang="en-US" sz="2400" dirty="0" err="1"/>
              <a:t>y</a:t>
            </a:r>
            <a:r>
              <a:rPr lang="en-US" sz="2400" dirty="0"/>
              <a:t>)</a:t>
            </a:r>
          </a:p>
          <a:p>
            <a:r>
              <a:rPr lang="en-US" sz="2400" dirty="0"/>
              <a:t>0</a:t>
            </a:r>
          </a:p>
          <a:p>
            <a:r>
              <a:rPr lang="en-US" sz="2400" dirty="0"/>
              <a:t>&gt;&gt;&gt; print(</a:t>
            </a:r>
            <a:r>
              <a:rPr lang="en-US" sz="2400" b="1" dirty="0">
                <a:solidFill>
                  <a:srgbClr val="FF0000"/>
                </a:solidFill>
              </a:rPr>
              <a:t>abs(</a:t>
            </a:r>
            <a:r>
              <a:rPr lang="en-US" sz="2400" dirty="0"/>
              <a:t>-x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)</a:t>
            </a:r>
          </a:p>
          <a:p>
            <a:r>
              <a:rPr lang="en-US" sz="24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336E214-08B9-7948-A696-5A0CDB95C8FC}"/>
              </a:ext>
            </a:extLst>
          </p:cNvPr>
          <p:cNvSpPr txBox="1"/>
          <p:nvPr/>
        </p:nvSpPr>
        <p:spPr>
          <a:xfrm>
            <a:off x="5732587" y="3980091"/>
            <a:ext cx="19899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B050"/>
                </a:solidFill>
              </a:rPr>
              <a:t>Yet another </a:t>
            </a:r>
            <a:br>
              <a:rPr lang="en-US" sz="2800" i="1" dirty="0">
                <a:solidFill>
                  <a:srgbClr val="00B050"/>
                </a:solidFill>
              </a:rPr>
            </a:br>
            <a:r>
              <a:rPr lang="en-US" sz="2800" i="1" dirty="0">
                <a:solidFill>
                  <a:srgbClr val="00B050"/>
                </a:solidFill>
              </a:rPr>
              <a:t>example…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7EF1915-E4F3-8147-9AA6-BBF33FE3F92D}"/>
              </a:ext>
            </a:extLst>
          </p:cNvPr>
          <p:cNvSpPr txBox="1"/>
          <p:nvPr/>
        </p:nvSpPr>
        <p:spPr>
          <a:xfrm>
            <a:off x="805765" y="3933924"/>
            <a:ext cx="165019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B050"/>
                </a:solidFill>
              </a:rPr>
              <a:t>Another </a:t>
            </a:r>
            <a:br>
              <a:rPr lang="en-US" sz="2800" i="1" dirty="0">
                <a:solidFill>
                  <a:srgbClr val="00B050"/>
                </a:solidFill>
              </a:rPr>
            </a:br>
            <a:r>
              <a:rPr lang="en-US" sz="2800" i="1" dirty="0">
                <a:solidFill>
                  <a:srgbClr val="00B050"/>
                </a:solidFill>
              </a:rPr>
              <a:t>example…</a:t>
            </a:r>
          </a:p>
        </p:txBody>
      </p:sp>
    </p:spTree>
    <p:extLst>
      <p:ext uri="{BB962C8B-B14F-4D97-AF65-F5344CB8AC3E}">
        <p14:creationId xmlns:p14="http://schemas.microsoft.com/office/powerpoint/2010/main" val="3067630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B92768-4697-88BF-83D4-9E291397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Representing Binary, Octal and Hexadecimal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8F70CD-7B60-5D10-1B69-10597DFDC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9216" cy="4351338"/>
          </a:xfrm>
        </p:spPr>
        <p:txBody>
          <a:bodyPr/>
          <a:lstStyle/>
          <a:p>
            <a:r>
              <a:rPr lang="en-IN" dirty="0"/>
              <a:t>Binary number prefix with -  0b  or 0B</a:t>
            </a:r>
          </a:p>
          <a:p>
            <a:pPr lvl="1"/>
            <a:r>
              <a:rPr lang="en-IN" dirty="0" err="1"/>
              <a:t>Eg.</a:t>
            </a:r>
            <a:r>
              <a:rPr lang="en-IN" dirty="0"/>
              <a:t> 0b110110 , 0B1010110</a:t>
            </a:r>
          </a:p>
          <a:p>
            <a:r>
              <a:rPr lang="en-IN" dirty="0"/>
              <a:t>Octal number prefix with – 0o (zero and small o) or 0O (zero and big o)</a:t>
            </a:r>
          </a:p>
          <a:p>
            <a:pPr lvl="1"/>
            <a:r>
              <a:rPr lang="en-IN" dirty="0" err="1"/>
              <a:t>Eg.</a:t>
            </a:r>
            <a:r>
              <a:rPr lang="en-IN" dirty="0"/>
              <a:t> 0o1476 or 0O307 </a:t>
            </a:r>
          </a:p>
          <a:p>
            <a:r>
              <a:rPr lang="en-IN" dirty="0"/>
              <a:t>Hexadecimal number </a:t>
            </a:r>
            <a:r>
              <a:rPr lang="en-IN" dirty="0" err="1"/>
              <a:t>prefx</a:t>
            </a:r>
            <a:r>
              <a:rPr lang="en-IN" dirty="0"/>
              <a:t> with – 0x or 0X</a:t>
            </a:r>
          </a:p>
          <a:p>
            <a:pPr lvl="1"/>
            <a:r>
              <a:rPr lang="en-IN" dirty="0" err="1"/>
              <a:t>Eg.</a:t>
            </a:r>
            <a:r>
              <a:rPr lang="en-IN" dirty="0"/>
              <a:t> 0x1Af3 or 0X2b9c</a:t>
            </a:r>
          </a:p>
        </p:txBody>
      </p:sp>
    </p:spTree>
    <p:extLst>
      <p:ext uri="{BB962C8B-B14F-4D97-AF65-F5344CB8AC3E}">
        <p14:creationId xmlns:p14="http://schemas.microsoft.com/office/powerpoint/2010/main" val="2872219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9029A2-2DC2-4AC8-5A1A-40AD3A255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9039" cy="1325563"/>
          </a:xfrm>
        </p:spPr>
        <p:txBody>
          <a:bodyPr>
            <a:normAutofit/>
          </a:bodyPr>
          <a:lstStyle/>
          <a:p>
            <a:r>
              <a:rPr lang="en-IN" sz="4000" dirty="0"/>
              <a:t>Converting Binary, Octal and Hexadecimal to 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D95BB2-5E52-58A7-A54B-16F886F6C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n1 = 0b110101</a:t>
            </a:r>
          </a:p>
          <a:p>
            <a:pPr marL="0" indent="0">
              <a:buNone/>
            </a:pPr>
            <a:r>
              <a:rPr lang="pt-BR" dirty="0"/>
              <a:t>n2 = 0o123</a:t>
            </a:r>
          </a:p>
          <a:p>
            <a:pPr marL="0" indent="0">
              <a:buNone/>
            </a:pPr>
            <a:r>
              <a:rPr lang="pt-BR" dirty="0"/>
              <a:t>n3 = 0xba2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print(“Binary to decimal = " , int(n1))</a:t>
            </a:r>
          </a:p>
          <a:p>
            <a:pPr marL="0" indent="0">
              <a:buNone/>
            </a:pPr>
            <a:r>
              <a:rPr lang="pt-BR" dirty="0"/>
              <a:t>print("Octal to decimal = " , int(n2))</a:t>
            </a:r>
          </a:p>
          <a:p>
            <a:pPr marL="0" indent="0">
              <a:buNone/>
            </a:pPr>
            <a:r>
              <a:rPr lang="pt-BR" dirty="0"/>
              <a:t>print("Hexadecimal to decimal = " , int(n3))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Output:</a:t>
            </a:r>
          </a:p>
          <a:p>
            <a:pPr marL="0" indent="0">
              <a:buNone/>
            </a:pPr>
            <a:r>
              <a:rPr lang="en-IN" dirty="0"/>
              <a:t>Binary to decimal =  53</a:t>
            </a:r>
          </a:p>
          <a:p>
            <a:pPr marL="0" indent="0">
              <a:buNone/>
            </a:pPr>
            <a:r>
              <a:rPr lang="en-IN" dirty="0"/>
              <a:t>Octal to decimal =  83</a:t>
            </a:r>
          </a:p>
          <a:p>
            <a:pPr marL="0" indent="0">
              <a:buNone/>
            </a:pPr>
            <a:r>
              <a:rPr lang="en-IN" dirty="0"/>
              <a:t>Hexadecimal to decimal =  2978</a:t>
            </a:r>
          </a:p>
        </p:txBody>
      </p:sp>
    </p:spTree>
    <p:extLst>
      <p:ext uri="{BB962C8B-B14F-4D97-AF65-F5344CB8AC3E}">
        <p14:creationId xmlns:p14="http://schemas.microsoft.com/office/powerpoint/2010/main" val="1495324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9029A2-2DC2-4AC8-5A1A-40AD3A255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9039" cy="1325563"/>
          </a:xfrm>
        </p:spPr>
        <p:txBody>
          <a:bodyPr>
            <a:normAutofit/>
          </a:bodyPr>
          <a:lstStyle/>
          <a:p>
            <a:r>
              <a:rPr lang="en-IN" sz="4000" dirty="0"/>
              <a:t>Converting decimal to Binary, Octal and Hexadecimal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D95BB2-5E52-58A7-A54B-16F886F6C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/>
              <a:t>n1 = 53</a:t>
            </a:r>
          </a:p>
          <a:p>
            <a:pPr marL="0" indent="0">
              <a:buNone/>
            </a:pPr>
            <a:r>
              <a:rPr lang="pt-BR" dirty="0"/>
              <a:t>n2 = 83</a:t>
            </a:r>
          </a:p>
          <a:p>
            <a:pPr marL="0" indent="0">
              <a:buNone/>
            </a:pPr>
            <a:r>
              <a:rPr lang="pt-BR" dirty="0"/>
              <a:t>n3 = 2978</a:t>
            </a:r>
          </a:p>
          <a:p>
            <a:pPr marL="0" indent="0" algn="ctr">
              <a:buNone/>
            </a:pPr>
            <a:r>
              <a:rPr lang="pt-BR"/>
              <a:t>                     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print(“Decimal to Binary = " , bin(n1))</a:t>
            </a:r>
          </a:p>
          <a:p>
            <a:pPr marL="0" indent="0">
              <a:buNone/>
            </a:pPr>
            <a:r>
              <a:rPr lang="pt-BR" dirty="0"/>
              <a:t>print(“Decimal to Octal = " , oct(n2))</a:t>
            </a:r>
          </a:p>
          <a:p>
            <a:pPr marL="0" indent="0">
              <a:buNone/>
            </a:pPr>
            <a:r>
              <a:rPr lang="pt-BR" dirty="0"/>
              <a:t>print(“Decimal to Hexadecimal = " , hex(n3))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Output:</a:t>
            </a:r>
          </a:p>
          <a:p>
            <a:pPr marL="0" indent="0">
              <a:buNone/>
            </a:pPr>
            <a:r>
              <a:rPr lang="en-IN" dirty="0"/>
              <a:t>Decimal to Binary =  0b110101</a:t>
            </a:r>
          </a:p>
          <a:p>
            <a:pPr marL="0" indent="0">
              <a:buNone/>
            </a:pPr>
            <a:r>
              <a:rPr lang="en-IN" dirty="0"/>
              <a:t>Decimal to Octal =  0o123</a:t>
            </a:r>
          </a:p>
          <a:p>
            <a:pPr marL="0" indent="0">
              <a:buNone/>
            </a:pPr>
            <a:r>
              <a:rPr lang="en-IN" dirty="0"/>
              <a:t>Decimal to Hexadecimal =  0xba2</a:t>
            </a:r>
          </a:p>
        </p:txBody>
      </p:sp>
    </p:spTree>
    <p:extLst>
      <p:ext uri="{BB962C8B-B14F-4D97-AF65-F5344CB8AC3E}">
        <p14:creationId xmlns:p14="http://schemas.microsoft.com/office/powerpoint/2010/main" val="15945989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Expressions: Summary of Operators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5AD5E2E8-4414-D343-8D98-452F1CC7B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755669"/>
              </p:ext>
            </p:extLst>
          </p:nvPr>
        </p:nvGraphicFramePr>
        <p:xfrm>
          <a:off x="2031999" y="1954498"/>
          <a:ext cx="8128000" cy="3627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xmlns="" val="53561814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xmlns="" val="2705504739"/>
                    </a:ext>
                  </a:extLst>
                </a:gridCol>
              </a:tblGrid>
              <a:tr h="40021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Operator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Operation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53234338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Addition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390065344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Subtraction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93171474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Multiplication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02045537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Float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94334827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Exponentiation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25165321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abs()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Absolute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96141694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Integer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05686841"/>
                  </a:ext>
                </a:extLst>
              </a:tr>
              <a:tr h="3468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%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Remainder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541457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C84AD32-F603-5546-BBFD-C6BB3D2D4468}"/>
              </a:ext>
            </a:extLst>
          </p:cNvPr>
          <p:cNvSpPr txBox="1"/>
          <p:nvPr/>
        </p:nvSpPr>
        <p:spPr>
          <a:xfrm>
            <a:off x="3782384" y="5701303"/>
            <a:ext cx="4627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Python Built-In Numeric Operations</a:t>
            </a:r>
          </a:p>
        </p:txBody>
      </p:sp>
    </p:spTree>
    <p:extLst>
      <p:ext uri="{BB962C8B-B14F-4D97-AF65-F5344CB8AC3E}">
        <p14:creationId xmlns:p14="http://schemas.microsoft.com/office/powerpoint/2010/main" val="4272179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/>
          </a:bodyPr>
          <a:lstStyle/>
          <a:p>
            <a:r>
              <a:rPr lang="en-US" dirty="0"/>
              <a:t>Data conversion can happen in two ways in Python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Explicit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Data Conversion</a:t>
            </a:r>
            <a:r>
              <a:rPr lang="en-US" dirty="0"/>
              <a:t> (we saw this earlier with the </a:t>
            </a:r>
            <a:r>
              <a:rPr lang="en-US" i="1" dirty="0" err="1"/>
              <a:t>int</a:t>
            </a:r>
            <a:r>
              <a:rPr lang="en-US" dirty="0"/>
              <a:t>, </a:t>
            </a:r>
            <a:r>
              <a:rPr lang="en-US" i="1" dirty="0"/>
              <a:t>float</a:t>
            </a:r>
            <a:r>
              <a:rPr lang="en-US" dirty="0"/>
              <a:t>, and </a:t>
            </a:r>
            <a:r>
              <a:rPr lang="en-US" i="1" dirty="0" err="1"/>
              <a:t>str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built-in functions)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Implicit Data Conversion</a:t>
            </a:r>
          </a:p>
          <a:p>
            <a:pPr lvl="2"/>
            <a:r>
              <a:rPr lang="en-US" sz="2400" dirty="0"/>
              <a:t>Takes place </a:t>
            </a:r>
            <a:r>
              <a:rPr lang="en-US" sz="2400" i="1" dirty="0"/>
              <a:t>automatically</a:t>
            </a:r>
            <a:r>
              <a:rPr lang="en-US" sz="2400" dirty="0"/>
              <a:t> during run time between </a:t>
            </a:r>
            <a:r>
              <a:rPr lang="en-US" sz="2400" i="1" dirty="0"/>
              <a:t>ONLY</a:t>
            </a:r>
            <a:r>
              <a:rPr lang="en-US" sz="2400" dirty="0"/>
              <a:t> numeric values</a:t>
            </a:r>
          </a:p>
          <a:p>
            <a:pPr lvl="3"/>
            <a:r>
              <a:rPr lang="en-US" sz="2400" dirty="0"/>
              <a:t>E.g., Adding a float and an integer will automatically result in a float value </a:t>
            </a:r>
          </a:p>
          <a:p>
            <a:pPr lvl="3"/>
            <a:r>
              <a:rPr lang="en-US" sz="2400" dirty="0"/>
              <a:t>E.g., Adding a string and an integer (or a float) will result in an </a:t>
            </a:r>
            <a:r>
              <a:rPr lang="en-US" sz="2400" i="1" dirty="0"/>
              <a:t>error</a:t>
            </a:r>
            <a:r>
              <a:rPr lang="en-US" sz="2400" dirty="0"/>
              <a:t> since string is not numeric</a:t>
            </a:r>
          </a:p>
          <a:p>
            <a:pPr lvl="2"/>
            <a:r>
              <a:rPr lang="en-US" sz="2400" dirty="0"/>
              <a:t>Applies </a:t>
            </a:r>
            <a:r>
              <a:rPr lang="en-US" sz="2400" i="1" dirty="0"/>
              <a:t>type promotion </a:t>
            </a:r>
            <a:r>
              <a:rPr lang="en-US" sz="2400" dirty="0"/>
              <a:t>to avoid loss of information</a:t>
            </a:r>
          </a:p>
          <a:p>
            <a:pPr lvl="3"/>
            <a:r>
              <a:rPr lang="en-US" sz="2400" dirty="0"/>
              <a:t>Conversion goes from integer to float (e.g., upon adding a float and an integer) and not vice versa so as the fractional part of the float is not lost    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Explicit and Implicit Data Type Conversion</a:t>
            </a:r>
          </a:p>
        </p:txBody>
      </p:sp>
    </p:spTree>
    <p:extLst>
      <p:ext uri="{BB962C8B-B14F-4D97-AF65-F5344CB8AC3E}">
        <p14:creationId xmlns:p14="http://schemas.microsoft.com/office/powerpoint/2010/main" val="4139230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Implicit Data Type Conversion: Examples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293BC0-D39E-6646-8F67-D91227DC65B3}"/>
              </a:ext>
            </a:extLst>
          </p:cNvPr>
          <p:cNvSpPr txBox="1"/>
          <p:nvPr/>
        </p:nvSpPr>
        <p:spPr>
          <a:xfrm>
            <a:off x="7259949" y="2128667"/>
            <a:ext cx="3664650" cy="415498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print(2 + 3.4)</a:t>
            </a:r>
          </a:p>
          <a:p>
            <a:r>
              <a:rPr lang="en-US" sz="2400" dirty="0"/>
              <a:t>5.4</a:t>
            </a:r>
          </a:p>
          <a:p>
            <a:r>
              <a:rPr lang="en-US" sz="2400" dirty="0"/>
              <a:t>&gt;&gt;&gt; print( 2 + 3)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print(9/5 * 27 + 32)</a:t>
            </a:r>
          </a:p>
          <a:p>
            <a:r>
              <a:rPr lang="en-US" sz="2400" dirty="0"/>
              <a:t>80.6</a:t>
            </a:r>
          </a:p>
          <a:p>
            <a:r>
              <a:rPr lang="en-US" sz="2400" dirty="0"/>
              <a:t>&gt;&gt;&gt; print(9//5 * 27 + 32)</a:t>
            </a:r>
          </a:p>
          <a:p>
            <a:r>
              <a:rPr lang="en-US" sz="2400" dirty="0"/>
              <a:t>59</a:t>
            </a:r>
          </a:p>
          <a:p>
            <a:r>
              <a:rPr lang="en-US" sz="2400" dirty="0"/>
              <a:t>&gt;&gt;&gt; print(5.9 + 4.2)</a:t>
            </a:r>
          </a:p>
          <a:p>
            <a:r>
              <a:rPr lang="en-US" sz="2400" dirty="0"/>
              <a:t>10.100000000000001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B4ED30C-85A1-2743-B864-984A223D87C6}"/>
              </a:ext>
            </a:extLst>
          </p:cNvPr>
          <p:cNvSpPr txBox="1"/>
          <p:nvPr/>
        </p:nvSpPr>
        <p:spPr>
          <a:xfrm>
            <a:off x="1032188" y="2319565"/>
            <a:ext cx="561301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The result of an expression that involves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a float number alongside (an) integer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number(s) is a float number </a:t>
            </a: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xmlns="" id="{09B596F1-9FC1-E24A-8E4C-3A061464D43C}"/>
              </a:ext>
            </a:extLst>
          </p:cNvPr>
          <p:cNvSpPr/>
          <p:nvPr/>
        </p:nvSpPr>
        <p:spPr>
          <a:xfrm>
            <a:off x="8521537" y="1998839"/>
            <a:ext cx="879061" cy="71587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B898C52C-F48B-6645-8DC1-0C0A63EC0FEB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6725458" y="2356774"/>
            <a:ext cx="1796079" cy="191042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xmlns="" id="{0358EE71-12F7-CA4D-B7A8-142164E95E78}"/>
              </a:ext>
            </a:extLst>
          </p:cNvPr>
          <p:cNvSpPr/>
          <p:nvPr/>
        </p:nvSpPr>
        <p:spPr>
          <a:xfrm>
            <a:off x="8521537" y="3466012"/>
            <a:ext cx="1708801" cy="715870"/>
          </a:xfrm>
          <a:prstGeom prst="ellipse">
            <a:avLst/>
          </a:prstGeom>
          <a:noFill/>
          <a:ln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AE5617E9-E383-DA45-9C0E-3628A8042B0F}"/>
              </a:ext>
            </a:extLst>
          </p:cNvPr>
          <p:cNvCxnSpPr>
            <a:cxnSpLocks/>
            <a:stCxn id="11" idx="2"/>
          </p:cNvCxnSpPr>
          <p:nvPr/>
        </p:nvCxnSpPr>
        <p:spPr>
          <a:xfrm flipH="1" flipV="1">
            <a:off x="6725459" y="2714709"/>
            <a:ext cx="1796078" cy="1109238"/>
          </a:xfrm>
          <a:prstGeom prst="straightConnector1">
            <a:avLst/>
          </a:prstGeom>
          <a:ln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19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93708"/>
          </a:xfrm>
        </p:spPr>
        <p:txBody>
          <a:bodyPr>
            <a:normAutofit/>
          </a:bodyPr>
          <a:lstStyle/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Implicit Data Type Conversion: Examples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8293BC0-D39E-6646-8F67-D91227DC65B3}"/>
              </a:ext>
            </a:extLst>
          </p:cNvPr>
          <p:cNvSpPr txBox="1"/>
          <p:nvPr/>
        </p:nvSpPr>
        <p:spPr>
          <a:xfrm>
            <a:off x="7259949" y="2128667"/>
            <a:ext cx="3664650" cy="415498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&gt;&gt;&gt; print(2 + 3.4)</a:t>
            </a:r>
          </a:p>
          <a:p>
            <a:r>
              <a:rPr lang="en-US" sz="2400" dirty="0"/>
              <a:t>5.4</a:t>
            </a:r>
          </a:p>
          <a:p>
            <a:r>
              <a:rPr lang="en-US" sz="2400" dirty="0"/>
              <a:t>&gt;&gt;&gt; print( 2 + 3)</a:t>
            </a:r>
          </a:p>
          <a:p>
            <a:r>
              <a:rPr lang="en-US" sz="2400" dirty="0"/>
              <a:t>5</a:t>
            </a:r>
          </a:p>
          <a:p>
            <a:r>
              <a:rPr lang="en-US" sz="2400" dirty="0"/>
              <a:t>&gt;&gt;&gt; print(9/5 * 27 + 32)</a:t>
            </a:r>
          </a:p>
          <a:p>
            <a:r>
              <a:rPr lang="en-US" sz="2400" dirty="0"/>
              <a:t>80.6</a:t>
            </a:r>
          </a:p>
          <a:p>
            <a:r>
              <a:rPr lang="en-US" sz="2400" dirty="0"/>
              <a:t>&gt;&gt;&gt; print(9//5 * 27 + 32)</a:t>
            </a:r>
          </a:p>
          <a:p>
            <a:r>
              <a:rPr lang="en-US" sz="2400" dirty="0"/>
              <a:t>59</a:t>
            </a:r>
          </a:p>
          <a:p>
            <a:r>
              <a:rPr lang="en-US" sz="2400" dirty="0"/>
              <a:t>&gt;&gt;&gt; print(5.9 + 4.2)</a:t>
            </a:r>
          </a:p>
          <a:p>
            <a:r>
              <a:rPr lang="en-US" sz="2400" dirty="0"/>
              <a:t>10.100000000000001</a:t>
            </a:r>
          </a:p>
          <a:p>
            <a:r>
              <a:rPr lang="en-US" sz="2400" dirty="0"/>
              <a:t>&gt;&gt;&gt;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B4ED30C-85A1-2743-B864-984A223D87C6}"/>
              </a:ext>
            </a:extLst>
          </p:cNvPr>
          <p:cNvSpPr txBox="1"/>
          <p:nvPr/>
        </p:nvSpPr>
        <p:spPr>
          <a:xfrm>
            <a:off x="1032188" y="2319565"/>
            <a:ext cx="589379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00B050"/>
                </a:solidFill>
              </a:rPr>
              <a:t>The result of an expression that involves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a float number alongside (an) integer </a:t>
            </a:r>
            <a:br>
              <a:rPr lang="en-US" sz="2400" dirty="0">
                <a:solidFill>
                  <a:srgbClr val="00B050"/>
                </a:solidFill>
              </a:rPr>
            </a:br>
            <a:r>
              <a:rPr lang="en-US" sz="2400" dirty="0">
                <a:solidFill>
                  <a:srgbClr val="00B050"/>
                </a:solidFill>
              </a:rPr>
              <a:t>number(s) is a float number</a:t>
            </a:r>
          </a:p>
          <a:p>
            <a:pPr marL="342900" indent="-342900">
              <a:buFont typeface="Wingdings" pitchFamily="2" charset="2"/>
              <a:buChar char="§"/>
            </a:pPr>
            <a:endParaRPr lang="en-US" sz="2400" dirty="0">
              <a:solidFill>
                <a:srgbClr val="00B050"/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C00000"/>
                </a:solidFill>
              </a:rPr>
              <a:t>The result of an expression that involves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values of the same data type will not result</a:t>
            </a:r>
            <a:br>
              <a:rPr lang="en-US" sz="2400" dirty="0">
                <a:solidFill>
                  <a:srgbClr val="C00000"/>
                </a:solidFill>
              </a:rPr>
            </a:br>
            <a:r>
              <a:rPr lang="en-US" sz="2400" dirty="0">
                <a:solidFill>
                  <a:srgbClr val="C00000"/>
                </a:solidFill>
              </a:rPr>
              <a:t>in any conversion </a:t>
            </a:r>
            <a:endParaRPr lang="en-US" sz="2400" dirty="0">
              <a:solidFill>
                <a:srgbClr val="00B050"/>
              </a:solidFill>
            </a:endParaRPr>
          </a:p>
          <a:p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C80D9355-2132-A84A-BEEE-9B852B850A94}"/>
              </a:ext>
            </a:extLst>
          </p:cNvPr>
          <p:cNvSpPr/>
          <p:nvPr/>
        </p:nvSpPr>
        <p:spPr>
          <a:xfrm>
            <a:off x="8521537" y="2793770"/>
            <a:ext cx="726668" cy="604861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1717EE0C-8EA4-D045-844A-E907D44D8C49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881482" y="3096201"/>
            <a:ext cx="1640055" cy="943659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C91C8EC2-E9C4-B742-A1A1-8A2D45E17DCE}"/>
              </a:ext>
            </a:extLst>
          </p:cNvPr>
          <p:cNvSpPr/>
          <p:nvPr/>
        </p:nvSpPr>
        <p:spPr>
          <a:xfrm>
            <a:off x="8521537" y="4192267"/>
            <a:ext cx="1810400" cy="71587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871064E2-85EB-7948-99F3-F83347FBA4F0}"/>
              </a:ext>
            </a:extLst>
          </p:cNvPr>
          <p:cNvCxnSpPr>
            <a:cxnSpLocks/>
            <a:stCxn id="14" idx="2"/>
          </p:cNvCxnSpPr>
          <p:nvPr/>
        </p:nvCxnSpPr>
        <p:spPr>
          <a:xfrm flipH="1" flipV="1">
            <a:off x="6881482" y="4366165"/>
            <a:ext cx="1640055" cy="184037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E94705BD-79A3-0849-9D9F-16452E8A617D}"/>
              </a:ext>
            </a:extLst>
          </p:cNvPr>
          <p:cNvSpPr/>
          <p:nvPr/>
        </p:nvSpPr>
        <p:spPr>
          <a:xfrm>
            <a:off x="8521537" y="5022611"/>
            <a:ext cx="1126555" cy="523683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58E48F87-A4B1-1143-8A77-1B1C99242599}"/>
              </a:ext>
            </a:extLst>
          </p:cNvPr>
          <p:cNvCxnSpPr>
            <a:cxnSpLocks/>
            <a:stCxn id="16" idx="2"/>
          </p:cNvCxnSpPr>
          <p:nvPr/>
        </p:nvCxnSpPr>
        <p:spPr>
          <a:xfrm flipH="1" flipV="1">
            <a:off x="6830749" y="4668737"/>
            <a:ext cx="1690788" cy="615716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85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/>
          </a:bodyPr>
          <a:lstStyle/>
          <a:p>
            <a:r>
              <a:rPr lang="en-US" dirty="0"/>
              <a:t>Programs are composed of statements that are built from </a:t>
            </a:r>
            <a:r>
              <a:rPr lang="en-US" i="1" dirty="0">
                <a:solidFill>
                  <a:srgbClr val="0070C0"/>
                </a:solidFill>
              </a:rPr>
              <a:t>identifiers</a:t>
            </a:r>
            <a:r>
              <a:rPr lang="en-US" dirty="0"/>
              <a:t> and </a:t>
            </a:r>
            <a:r>
              <a:rPr lang="en-US" i="1" dirty="0">
                <a:solidFill>
                  <a:srgbClr val="0070C0"/>
                </a:solidFill>
              </a:rPr>
              <a:t>expressions</a:t>
            </a:r>
          </a:p>
          <a:p>
            <a:endParaRPr lang="en-US" dirty="0"/>
          </a:p>
          <a:p>
            <a:r>
              <a:rPr lang="en-US" dirty="0"/>
              <a:t>Identifiers are names </a:t>
            </a:r>
          </a:p>
          <a:p>
            <a:pPr lvl="1"/>
            <a:r>
              <a:rPr lang="en-US" dirty="0"/>
              <a:t>They begin with an underscore or letter which can be followed by a combination of letter, digit, and/or underscore characters</a:t>
            </a:r>
          </a:p>
          <a:p>
            <a:pPr lvl="1"/>
            <a:r>
              <a:rPr lang="en-US" dirty="0"/>
              <a:t>They are case sensitive</a:t>
            </a:r>
          </a:p>
          <a:p>
            <a:pPr lvl="1"/>
            <a:endParaRPr lang="en-US" dirty="0"/>
          </a:p>
          <a:p>
            <a:r>
              <a:rPr lang="en-US" dirty="0"/>
              <a:t>Expressions are the fragments of a program that produce data</a:t>
            </a:r>
          </a:p>
          <a:p>
            <a:pPr lvl="1"/>
            <a:r>
              <a:rPr lang="en-US" dirty="0"/>
              <a:t>They can be composed of </a:t>
            </a:r>
            <a:r>
              <a:rPr lang="en-US" i="1" dirty="0">
                <a:solidFill>
                  <a:srgbClr val="0070C0"/>
                </a:solidFill>
              </a:rPr>
              <a:t>literals</a:t>
            </a:r>
            <a:r>
              <a:rPr lang="en-US" dirty="0"/>
              <a:t>, </a:t>
            </a:r>
            <a:r>
              <a:rPr lang="en-US" i="1" dirty="0">
                <a:solidFill>
                  <a:srgbClr val="0070C0"/>
                </a:solidFill>
              </a:rPr>
              <a:t>variables</a:t>
            </a:r>
            <a:r>
              <a:rPr lang="en-US" dirty="0"/>
              <a:t>, and </a:t>
            </a:r>
            <a:r>
              <a:rPr lang="en-US" i="1" dirty="0">
                <a:solidFill>
                  <a:srgbClr val="0070C0"/>
                </a:solidFill>
              </a:rPr>
              <a:t>operators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14942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/>
          </a:bodyPr>
          <a:lstStyle/>
          <a:p>
            <a:r>
              <a:rPr lang="en-US" dirty="0"/>
              <a:t>A literal is a representation of a specific value (e.g., 3 is a literal representing the number three)</a:t>
            </a:r>
          </a:p>
          <a:p>
            <a:endParaRPr lang="en-US" i="1" dirty="0">
              <a:solidFill>
                <a:srgbClr val="0070C0"/>
              </a:solidFill>
            </a:endParaRPr>
          </a:p>
          <a:p>
            <a:r>
              <a:rPr lang="en-US" dirty="0"/>
              <a:t>A variable is an identifier that stores a value, which can change (hence, the name </a:t>
            </a:r>
            <a:r>
              <a:rPr lang="en-US" i="1" dirty="0"/>
              <a:t>variable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Operators are used to </a:t>
            </a:r>
            <a:r>
              <a:rPr lang="en-US"/>
              <a:t>form and </a:t>
            </a:r>
            <a:r>
              <a:rPr lang="en-US" dirty="0"/>
              <a:t>combine expressions into more complex expressions (e.g., the expression x + 3 * y combines two expressions together using the + and * operators)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618569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401FB08-0D9A-744A-A038-1F1CE7073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888" cy="46937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Python, </a:t>
            </a:r>
            <a:r>
              <a:rPr lang="en-US" i="1" dirty="0">
                <a:solidFill>
                  <a:srgbClr val="0070C0"/>
                </a:solidFill>
              </a:rPr>
              <a:t>assignment</a:t>
            </a:r>
            <a:r>
              <a:rPr lang="en-US" dirty="0"/>
              <a:t> of a value to a variable is done using the equal sign (i.e., =)</a:t>
            </a:r>
          </a:p>
          <a:p>
            <a:endParaRPr lang="en-US" dirty="0"/>
          </a:p>
          <a:p>
            <a:r>
              <a:rPr lang="en-US" dirty="0"/>
              <a:t>Using assignments, programs can get inputs from users and manipulate them internally</a:t>
            </a:r>
          </a:p>
          <a:p>
            <a:endParaRPr lang="en-US" dirty="0"/>
          </a:p>
          <a:p>
            <a:r>
              <a:rPr lang="en-US" dirty="0"/>
              <a:t>Python allows </a:t>
            </a:r>
            <a:r>
              <a:rPr lang="en-US" i="1" dirty="0">
                <a:solidFill>
                  <a:srgbClr val="0070C0"/>
                </a:solidFill>
              </a:rPr>
              <a:t>simultaneous assignments</a:t>
            </a:r>
            <a:r>
              <a:rPr lang="en-US" dirty="0"/>
              <a:t>, which are useful for swapping values of variables</a:t>
            </a:r>
          </a:p>
          <a:p>
            <a:endParaRPr lang="en-US" dirty="0"/>
          </a:p>
          <a:p>
            <a:r>
              <a:rPr lang="en-US" i="1" dirty="0">
                <a:solidFill>
                  <a:srgbClr val="0070C0"/>
                </a:solidFill>
              </a:rPr>
              <a:t>Datatype conversion </a:t>
            </a:r>
            <a:r>
              <a:rPr lang="en-US" dirty="0"/>
              <a:t>involves converting </a:t>
            </a:r>
            <a:r>
              <a:rPr lang="en-US" i="1" dirty="0">
                <a:solidFill>
                  <a:srgbClr val="0070C0"/>
                </a:solidFill>
              </a:rPr>
              <a:t>implicitly</a:t>
            </a:r>
            <a:r>
              <a:rPr lang="en-US" dirty="0"/>
              <a:t> and </a:t>
            </a:r>
            <a:r>
              <a:rPr lang="en-US" i="1" dirty="0">
                <a:solidFill>
                  <a:srgbClr val="0070C0"/>
                </a:solidFill>
              </a:rPr>
              <a:t>explicitly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between various datatypes, including integer, float, and string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84959B-1AF6-6242-9059-A5807768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21621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11916</TotalTime>
  <Words>1460</Words>
  <Application>Microsoft Office PowerPoint</Application>
  <PresentationFormat>Widescreen</PresentationFormat>
  <Paragraphs>464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Office Theme</vt:lpstr>
      <vt:lpstr>UNIT-1 Introduction to PYTHON</vt:lpstr>
      <vt:lpstr>Today…</vt:lpstr>
      <vt:lpstr>The None type</vt:lpstr>
      <vt:lpstr>Datatype Conversion</vt:lpstr>
      <vt:lpstr>Datatype Conversion</vt:lpstr>
      <vt:lpstr>Datatype Conversion</vt:lpstr>
      <vt:lpstr>Simultaneous Assignment</vt:lpstr>
      <vt:lpstr>Simultaneous Assignment</vt:lpstr>
      <vt:lpstr>Simultaneous Assignment</vt:lpstr>
      <vt:lpstr>Identifiers</vt:lpstr>
      <vt:lpstr>Identifiers</vt:lpstr>
      <vt:lpstr>Identifiers</vt:lpstr>
      <vt:lpstr>Identifiers</vt:lpstr>
      <vt:lpstr>Expressions</vt:lpstr>
      <vt:lpstr>Expressions</vt:lpstr>
      <vt:lpstr>Expressions</vt:lpstr>
      <vt:lpstr>Expressions</vt:lpstr>
      <vt:lpstr>Representing Binary, Octal and Hexadecimal Numbers</vt:lpstr>
      <vt:lpstr>Converting Binary, Octal and Hexadecimal to decimal</vt:lpstr>
      <vt:lpstr>Converting decimal to Binary, Octal and Hexadecimal </vt:lpstr>
      <vt:lpstr>Expressions: Summary of Operators</vt:lpstr>
      <vt:lpstr>Explicit and Implicit Data Type Conversion</vt:lpstr>
      <vt:lpstr>Implicit Data Type Conversion: Examples</vt:lpstr>
      <vt:lpstr>Implicit Data Type Conversion: Examples</vt:lpstr>
      <vt:lpstr>Summary</vt:lpstr>
      <vt:lpstr>Summary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admin</cp:lastModifiedBy>
  <cp:revision>427</cp:revision>
  <dcterms:created xsi:type="dcterms:W3CDTF">2018-08-24T21:11:55Z</dcterms:created>
  <dcterms:modified xsi:type="dcterms:W3CDTF">2025-01-09T10:20:50Z</dcterms:modified>
</cp:coreProperties>
</file>